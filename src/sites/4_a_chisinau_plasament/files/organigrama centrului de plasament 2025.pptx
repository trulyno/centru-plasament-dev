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1" autoAdjust="0"/>
    <p:restoredTop sz="94638" autoAdjust="0"/>
  </p:normalViewPr>
  <p:slideViewPr>
    <p:cSldViewPr>
      <p:cViewPr>
        <p:scale>
          <a:sx n="75" d="100"/>
          <a:sy n="75" d="100"/>
        </p:scale>
        <p:origin x="1228" y="36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-3318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C29376-204E-4A20-8769-45A610578330}" type="datetimeFigureOut">
              <a:rPr lang="ru-RU" smtClean="0"/>
              <a:pPr/>
              <a:t>11.02.2025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6C683-F2AA-434D-A5EB-7FA9B8ECF4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443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6C683-F2AA-434D-A5EB-7FA9B8ECF467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159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F210-DBD9-4A9C-A597-90EAABD8C5FE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812B-3F5A-4725-97B6-076E53D582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F210-DBD9-4A9C-A597-90EAABD8C5FE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812B-3F5A-4725-97B6-076E53D582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F210-DBD9-4A9C-A597-90EAABD8C5FE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812B-3F5A-4725-97B6-076E53D582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3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3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F210-DBD9-4A9C-A597-90EAABD8C5FE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812B-3F5A-4725-97B6-076E53D582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F210-DBD9-4A9C-A597-90EAABD8C5FE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812B-3F5A-4725-97B6-076E53D582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F210-DBD9-4A9C-A597-90EAABD8C5FE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812B-3F5A-4725-97B6-076E53D582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F210-DBD9-4A9C-A597-90EAABD8C5FE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812B-3F5A-4725-97B6-076E53D582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1" y="1435103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F210-DBD9-4A9C-A597-90EAABD8C5FE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812B-3F5A-4725-97B6-076E53D582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F210-DBD9-4A9C-A597-90EAABD8C5FE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812B-3F5A-4725-97B6-076E53D582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F210-DBD9-4A9C-A597-90EAABD8C5FE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812B-3F5A-4725-97B6-076E53D582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41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41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F210-DBD9-4A9C-A597-90EAABD8C5FE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812B-3F5A-4725-97B6-076E53D582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2F210-DBD9-4A9C-A597-90EAABD8C5FE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3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5812B-3F5A-4725-97B6-076E53D5826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0" y="609600"/>
            <a:ext cx="2286000" cy="3896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 dirty="0"/>
              <a:t>DIRECTOR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581400" y="1600200"/>
            <a:ext cx="1219200" cy="5236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 dirty="0"/>
              <a:t>Medic ș</a:t>
            </a:r>
            <a:r>
              <a:rPr lang="ro-RO" sz="1200" b="1" dirty="0" err="1"/>
              <a:t>ef</a:t>
            </a:r>
            <a:r>
              <a:rPr lang="ro-RO" sz="1200" b="1" dirty="0"/>
              <a:t> secție medicală </a:t>
            </a:r>
            <a:endParaRPr lang="en-US" sz="1200" b="1" dirty="0"/>
          </a:p>
        </p:txBody>
      </p:sp>
      <p:sp>
        <p:nvSpPr>
          <p:cNvPr id="7" name="Rectangle 6"/>
          <p:cNvSpPr/>
          <p:nvPr/>
        </p:nvSpPr>
        <p:spPr>
          <a:xfrm>
            <a:off x="381000" y="1600200"/>
            <a:ext cx="1334034" cy="6462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200" b="1" dirty="0"/>
              <a:t>Șef </a:t>
            </a:r>
            <a:r>
              <a:rPr lang="en-US" sz="1200" b="1" dirty="0" err="1"/>
              <a:t>secție</a:t>
            </a:r>
            <a:r>
              <a:rPr lang="en-US" sz="1200" b="1" dirty="0"/>
              <a:t> (admin</a:t>
            </a:r>
            <a:r>
              <a:rPr lang="ro-RO" sz="1200" b="1" dirty="0"/>
              <a:t>.</a:t>
            </a:r>
            <a:r>
              <a:rPr lang="en-US" sz="1200" b="1" dirty="0"/>
              <a:t> </a:t>
            </a:r>
            <a:r>
              <a:rPr lang="en-US" sz="1200" b="1" dirty="0" err="1"/>
              <a:t>gospod</a:t>
            </a:r>
            <a:r>
              <a:rPr lang="ro-RO" sz="1200" b="1" dirty="0"/>
              <a:t>ă</a:t>
            </a:r>
            <a:r>
              <a:rPr lang="en-US" sz="1200" b="1" dirty="0" err="1"/>
              <a:t>rie</a:t>
            </a:r>
            <a:r>
              <a:rPr lang="en-US" sz="1200" b="1" dirty="0"/>
              <a:t> </a:t>
            </a:r>
            <a:r>
              <a:rPr lang="ro-RO" sz="1200" b="1" dirty="0" err="1"/>
              <a:t>exter</a:t>
            </a:r>
            <a:r>
              <a:rPr lang="en-US" sz="1200" b="1" dirty="0"/>
              <a:t>n</a:t>
            </a:r>
            <a:r>
              <a:rPr lang="ro-RO" sz="1200" b="1" dirty="0"/>
              <a:t>) </a:t>
            </a:r>
            <a:endParaRPr lang="en-US" sz="1200" b="1" dirty="0"/>
          </a:p>
        </p:txBody>
      </p:sp>
      <p:sp>
        <p:nvSpPr>
          <p:cNvPr id="8" name="Rectangle 7"/>
          <p:cNvSpPr/>
          <p:nvPr/>
        </p:nvSpPr>
        <p:spPr>
          <a:xfrm>
            <a:off x="2058176" y="2406844"/>
            <a:ext cx="1299587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200" b="1" dirty="0"/>
              <a:t>Asistent Medical Superior </a:t>
            </a:r>
            <a:r>
              <a:rPr lang="en-US" sz="1200" b="1" dirty="0"/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1800" y="4859772"/>
            <a:ext cx="12192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200" b="1" dirty="0"/>
              <a:t>Șef depozit (material) </a:t>
            </a:r>
            <a:endParaRPr lang="en-US" sz="1200" b="1" dirty="0"/>
          </a:p>
        </p:txBody>
      </p:sp>
      <p:sp>
        <p:nvSpPr>
          <p:cNvPr id="11" name="Rectangle 10"/>
          <p:cNvSpPr/>
          <p:nvPr/>
        </p:nvSpPr>
        <p:spPr>
          <a:xfrm>
            <a:off x="6781800" y="1676400"/>
            <a:ext cx="1219200" cy="44859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200" b="1" dirty="0"/>
              <a:t>Șef </a:t>
            </a:r>
            <a:r>
              <a:rPr lang="en-US" sz="1200" b="1" dirty="0" err="1"/>
              <a:t>secție</a:t>
            </a:r>
            <a:r>
              <a:rPr lang="en-US" sz="1200" b="1" dirty="0"/>
              <a:t>  (</a:t>
            </a:r>
            <a:r>
              <a:rPr lang="en-US" sz="1200" b="1" dirty="0" err="1"/>
              <a:t>alimentare</a:t>
            </a:r>
            <a:r>
              <a:rPr lang="en-US" sz="1200" b="1" dirty="0"/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34256" y="1600200"/>
            <a:ext cx="1371600" cy="5420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 dirty="0"/>
              <a:t> </a:t>
            </a:r>
            <a:r>
              <a:rPr lang="ro-RO" sz="1200" b="1" dirty="0"/>
              <a:t>Șef </a:t>
            </a:r>
            <a:r>
              <a:rPr lang="en-US" sz="1200" b="1" dirty="0" err="1"/>
              <a:t>secție</a:t>
            </a:r>
            <a:r>
              <a:rPr lang="en-US" sz="1200" b="1" dirty="0"/>
              <a:t> (admin</a:t>
            </a:r>
            <a:r>
              <a:rPr lang="ro-RO" sz="1200" b="1" dirty="0"/>
              <a:t>. </a:t>
            </a:r>
            <a:r>
              <a:rPr lang="en-US" sz="1200" b="1" dirty="0" err="1"/>
              <a:t>gospod</a:t>
            </a:r>
            <a:r>
              <a:rPr lang="ro-RO" sz="1200" b="1" dirty="0"/>
              <a:t>ă</a:t>
            </a:r>
            <a:r>
              <a:rPr lang="en-US" sz="1200" b="1" dirty="0" err="1"/>
              <a:t>rie</a:t>
            </a:r>
            <a:r>
              <a:rPr lang="en-US" sz="1200" b="1" dirty="0"/>
              <a:t> intern)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2362200"/>
            <a:ext cx="1066800" cy="55552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Medici terapeut, diagnostic funcțional</a:t>
            </a:r>
            <a:endParaRPr lang="en-US" sz="1000" b="1" dirty="0"/>
          </a:p>
        </p:txBody>
      </p:sp>
      <p:sp>
        <p:nvSpPr>
          <p:cNvPr id="38" name="Rectangle 37"/>
          <p:cNvSpPr/>
          <p:nvPr/>
        </p:nvSpPr>
        <p:spPr>
          <a:xfrm>
            <a:off x="3657600" y="4343400"/>
            <a:ext cx="1066800" cy="3714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Medic Stomatolog </a:t>
            </a:r>
            <a:endParaRPr lang="en-US" sz="1000" b="1" dirty="0"/>
          </a:p>
        </p:txBody>
      </p:sp>
      <p:sp>
        <p:nvSpPr>
          <p:cNvPr id="39" name="Rectangle 38"/>
          <p:cNvSpPr/>
          <p:nvPr/>
        </p:nvSpPr>
        <p:spPr>
          <a:xfrm>
            <a:off x="3657600" y="4876800"/>
            <a:ext cx="10668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Medic Stomatolog  Protezist </a:t>
            </a:r>
            <a:endParaRPr lang="en-US" sz="1000" b="1" dirty="0"/>
          </a:p>
        </p:txBody>
      </p:sp>
      <p:sp>
        <p:nvSpPr>
          <p:cNvPr id="41" name="Rectangle 40"/>
          <p:cNvSpPr/>
          <p:nvPr/>
        </p:nvSpPr>
        <p:spPr>
          <a:xfrm>
            <a:off x="3657600" y="3048000"/>
            <a:ext cx="1066800" cy="3550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Medic Psihoneurolog </a:t>
            </a:r>
            <a:endParaRPr lang="en-US" sz="1000" b="1" dirty="0"/>
          </a:p>
        </p:txBody>
      </p:sp>
      <p:sp>
        <p:nvSpPr>
          <p:cNvPr id="42" name="Rectangle 41"/>
          <p:cNvSpPr/>
          <p:nvPr/>
        </p:nvSpPr>
        <p:spPr>
          <a:xfrm>
            <a:off x="3657600" y="3886200"/>
            <a:ext cx="1066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Farmacist</a:t>
            </a:r>
            <a:endParaRPr lang="en-US" sz="1000" b="1" dirty="0"/>
          </a:p>
        </p:txBody>
      </p:sp>
      <p:sp>
        <p:nvSpPr>
          <p:cNvPr id="43" name="Rectangle 42"/>
          <p:cNvSpPr/>
          <p:nvPr/>
        </p:nvSpPr>
        <p:spPr>
          <a:xfrm>
            <a:off x="3657600" y="5486400"/>
            <a:ext cx="1066800" cy="381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Tehnician dentar </a:t>
            </a:r>
            <a:endParaRPr lang="en-US" sz="1000" b="1" dirty="0"/>
          </a:p>
        </p:txBody>
      </p:sp>
      <p:sp>
        <p:nvSpPr>
          <p:cNvPr id="81" name="Rectangle 80"/>
          <p:cNvSpPr/>
          <p:nvPr/>
        </p:nvSpPr>
        <p:spPr>
          <a:xfrm>
            <a:off x="2057400" y="2971800"/>
            <a:ext cx="1295400" cy="32200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Asistent medical de salon </a:t>
            </a:r>
            <a:endParaRPr lang="en-US" sz="1000" b="1" dirty="0"/>
          </a:p>
        </p:txBody>
      </p:sp>
      <p:sp>
        <p:nvSpPr>
          <p:cNvPr id="82" name="Rectangle 81"/>
          <p:cNvSpPr/>
          <p:nvPr/>
        </p:nvSpPr>
        <p:spPr>
          <a:xfrm>
            <a:off x="2057400" y="5105400"/>
            <a:ext cx="1295400" cy="40422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Infirmiere </a:t>
            </a:r>
            <a:endParaRPr lang="en-US" sz="1000" b="1" dirty="0"/>
          </a:p>
        </p:txBody>
      </p:sp>
      <p:sp>
        <p:nvSpPr>
          <p:cNvPr id="136" name="Rectangle 135"/>
          <p:cNvSpPr/>
          <p:nvPr/>
        </p:nvSpPr>
        <p:spPr>
          <a:xfrm>
            <a:off x="8458200" y="2362200"/>
            <a:ext cx="1143000" cy="381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Psiholog </a:t>
            </a:r>
            <a:endParaRPr lang="en-US" sz="1000" b="1" dirty="0"/>
          </a:p>
        </p:txBody>
      </p:sp>
      <p:sp>
        <p:nvSpPr>
          <p:cNvPr id="144" name="Rectangle 143"/>
          <p:cNvSpPr/>
          <p:nvPr/>
        </p:nvSpPr>
        <p:spPr>
          <a:xfrm>
            <a:off x="3657600" y="3505200"/>
            <a:ext cx="1066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 dirty="0" err="1"/>
              <a:t>Dietetician</a:t>
            </a:r>
            <a:endParaRPr lang="en-US" sz="1000" b="1" dirty="0"/>
          </a:p>
        </p:txBody>
      </p:sp>
      <p:sp>
        <p:nvSpPr>
          <p:cNvPr id="149" name="Rectangle 148"/>
          <p:cNvSpPr/>
          <p:nvPr/>
        </p:nvSpPr>
        <p:spPr>
          <a:xfrm>
            <a:off x="2057400" y="3422856"/>
            <a:ext cx="1295400" cy="3680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Asistent medical diagnostic funcțional</a:t>
            </a:r>
            <a:endParaRPr lang="en-US" sz="1000" b="1" dirty="0"/>
          </a:p>
        </p:txBody>
      </p:sp>
      <p:sp>
        <p:nvSpPr>
          <p:cNvPr id="150" name="Rectangle 149"/>
          <p:cNvSpPr/>
          <p:nvPr/>
        </p:nvSpPr>
        <p:spPr>
          <a:xfrm>
            <a:off x="2074169" y="3923427"/>
            <a:ext cx="1295400" cy="4050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Asistent medical fizioterapie</a:t>
            </a:r>
            <a:endParaRPr lang="en-US" sz="1000" b="1" dirty="0"/>
          </a:p>
        </p:txBody>
      </p:sp>
      <p:sp>
        <p:nvSpPr>
          <p:cNvPr id="151" name="Rectangle 150"/>
          <p:cNvSpPr/>
          <p:nvPr/>
        </p:nvSpPr>
        <p:spPr>
          <a:xfrm>
            <a:off x="2057400" y="4479322"/>
            <a:ext cx="1295400" cy="32127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Asistent medical  maseză</a:t>
            </a:r>
            <a:endParaRPr lang="en-US" sz="1000" b="1" dirty="0"/>
          </a:p>
        </p:txBody>
      </p:sp>
      <p:sp>
        <p:nvSpPr>
          <p:cNvPr id="164" name="Rectangle 163"/>
          <p:cNvSpPr/>
          <p:nvPr/>
        </p:nvSpPr>
        <p:spPr>
          <a:xfrm>
            <a:off x="8534400" y="4724400"/>
            <a:ext cx="1143000" cy="381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Bucătar </a:t>
            </a:r>
            <a:endParaRPr lang="en-US" sz="1000" b="1" dirty="0"/>
          </a:p>
        </p:txBody>
      </p:sp>
      <p:sp>
        <p:nvSpPr>
          <p:cNvPr id="165" name="Rectangle 164"/>
          <p:cNvSpPr/>
          <p:nvPr/>
        </p:nvSpPr>
        <p:spPr>
          <a:xfrm>
            <a:off x="8534400" y="5867400"/>
            <a:ext cx="1143000" cy="533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Chelner </a:t>
            </a:r>
            <a:endParaRPr lang="en-US" sz="1000" b="1" dirty="0"/>
          </a:p>
        </p:txBody>
      </p:sp>
      <p:sp>
        <p:nvSpPr>
          <p:cNvPr id="166" name="Rectangle 165"/>
          <p:cNvSpPr/>
          <p:nvPr/>
        </p:nvSpPr>
        <p:spPr>
          <a:xfrm>
            <a:off x="8534400" y="5410200"/>
            <a:ext cx="11430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Bucătar auxiliar </a:t>
            </a:r>
            <a:endParaRPr lang="en-US" sz="1000" b="1" dirty="0"/>
          </a:p>
        </p:txBody>
      </p:sp>
      <p:sp>
        <p:nvSpPr>
          <p:cNvPr id="207" name="Rectangle 206"/>
          <p:cNvSpPr/>
          <p:nvPr/>
        </p:nvSpPr>
        <p:spPr>
          <a:xfrm>
            <a:off x="6781800" y="2374606"/>
            <a:ext cx="1219200" cy="381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Jurist</a:t>
            </a:r>
            <a:endParaRPr lang="en-US" sz="1000" b="1" dirty="0"/>
          </a:p>
        </p:txBody>
      </p:sp>
      <p:sp>
        <p:nvSpPr>
          <p:cNvPr id="208" name="Rectangle 207"/>
          <p:cNvSpPr/>
          <p:nvPr/>
        </p:nvSpPr>
        <p:spPr>
          <a:xfrm>
            <a:off x="6755423" y="2921523"/>
            <a:ext cx="12192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 err="1"/>
              <a:t>Speci</a:t>
            </a:r>
            <a:r>
              <a:rPr lang="ro-RO" sz="1000" b="1" dirty="0"/>
              <a:t> Specialist  </a:t>
            </a:r>
            <a:r>
              <a:rPr lang="en-US" sz="1000" b="1" dirty="0"/>
              <a:t> </a:t>
            </a:r>
            <a:r>
              <a:rPr lang="ro-RO" sz="1000" b="1" dirty="0"/>
              <a:t>(securitate și sănătate în muncă </a:t>
            </a:r>
            <a:r>
              <a:rPr lang="ro-RO" sz="1000" b="1" dirty="0" err="1"/>
              <a:t>alist</a:t>
            </a:r>
            <a:r>
              <a:rPr lang="ro-RO" sz="1000" b="1" dirty="0"/>
              <a:t> Principal (resurse umane) </a:t>
            </a:r>
            <a:endParaRPr lang="en-US" sz="1000" b="1" dirty="0"/>
          </a:p>
        </p:txBody>
      </p:sp>
      <p:sp>
        <p:nvSpPr>
          <p:cNvPr id="209" name="Rectangle 208"/>
          <p:cNvSpPr/>
          <p:nvPr/>
        </p:nvSpPr>
        <p:spPr>
          <a:xfrm>
            <a:off x="8458200" y="2895600"/>
            <a:ext cx="1143000" cy="533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Asistent social </a:t>
            </a:r>
            <a:endParaRPr lang="en-US" sz="1000" b="1" dirty="0"/>
          </a:p>
        </p:txBody>
      </p:sp>
      <p:sp>
        <p:nvSpPr>
          <p:cNvPr id="210" name="Rectangle 209"/>
          <p:cNvSpPr/>
          <p:nvPr/>
        </p:nvSpPr>
        <p:spPr>
          <a:xfrm>
            <a:off x="6781800" y="3581400"/>
            <a:ext cx="1219200" cy="533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Bibliotecar) </a:t>
            </a:r>
            <a:endParaRPr lang="en-US" sz="1000" b="1" dirty="0"/>
          </a:p>
        </p:txBody>
      </p:sp>
      <p:sp>
        <p:nvSpPr>
          <p:cNvPr id="211" name="Rectangle 210"/>
          <p:cNvSpPr/>
          <p:nvPr/>
        </p:nvSpPr>
        <p:spPr>
          <a:xfrm>
            <a:off x="6781800" y="4267200"/>
            <a:ext cx="12192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/>
              <a:t>Șef depozit (alimentar) </a:t>
            </a:r>
            <a:endParaRPr lang="en-US" sz="1000" b="1" dirty="0"/>
          </a:p>
        </p:txBody>
      </p:sp>
      <p:sp>
        <p:nvSpPr>
          <p:cNvPr id="212" name="Rectangle 211"/>
          <p:cNvSpPr/>
          <p:nvPr/>
        </p:nvSpPr>
        <p:spPr>
          <a:xfrm>
            <a:off x="8458200" y="3581400"/>
            <a:ext cx="1143000" cy="533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Animator cultural </a:t>
            </a:r>
            <a:endParaRPr lang="en-US" sz="1000" b="1" dirty="0"/>
          </a:p>
        </p:txBody>
      </p:sp>
      <p:sp>
        <p:nvSpPr>
          <p:cNvPr id="234" name="Rectangle 233"/>
          <p:cNvSpPr/>
          <p:nvPr/>
        </p:nvSpPr>
        <p:spPr>
          <a:xfrm>
            <a:off x="457200" y="3581400"/>
            <a:ext cx="12192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Operator mașini de spălat, călcat, uscat</a:t>
            </a:r>
            <a:endParaRPr lang="en-US" sz="1000" b="1" dirty="0"/>
          </a:p>
        </p:txBody>
      </p:sp>
      <p:sp>
        <p:nvSpPr>
          <p:cNvPr id="235" name="Rectangle 234"/>
          <p:cNvSpPr/>
          <p:nvPr/>
        </p:nvSpPr>
        <p:spPr>
          <a:xfrm>
            <a:off x="457200" y="4191000"/>
            <a:ext cx="12192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(Muncitori calificați liftier, zugrav) </a:t>
            </a:r>
            <a:endParaRPr lang="en-US" sz="1000" b="1" dirty="0"/>
          </a:p>
        </p:txBody>
      </p:sp>
      <p:sp>
        <p:nvSpPr>
          <p:cNvPr id="237" name="Rectangle 236"/>
          <p:cNvSpPr/>
          <p:nvPr/>
        </p:nvSpPr>
        <p:spPr>
          <a:xfrm>
            <a:off x="457200" y="5334000"/>
            <a:ext cx="1219200" cy="7239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Muncitori necalificați (paznic portar, curățător teritoriu, hamal) </a:t>
            </a:r>
            <a:endParaRPr lang="en-US" sz="1000" b="1" dirty="0"/>
          </a:p>
        </p:txBody>
      </p:sp>
      <p:sp>
        <p:nvSpPr>
          <p:cNvPr id="238" name="Rectangle 237"/>
          <p:cNvSpPr/>
          <p:nvPr/>
        </p:nvSpPr>
        <p:spPr>
          <a:xfrm>
            <a:off x="2057400" y="5715000"/>
            <a:ext cx="12954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Frizer </a:t>
            </a:r>
            <a:endParaRPr lang="en-US" sz="1000" b="1" dirty="0"/>
          </a:p>
        </p:txBody>
      </p:sp>
      <p:sp>
        <p:nvSpPr>
          <p:cNvPr id="241" name="Rectangle 240"/>
          <p:cNvSpPr/>
          <p:nvPr/>
        </p:nvSpPr>
        <p:spPr>
          <a:xfrm>
            <a:off x="457200" y="4800600"/>
            <a:ext cx="12192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Șofer </a:t>
            </a:r>
            <a:endParaRPr lang="en-US" sz="1000" b="1" dirty="0"/>
          </a:p>
        </p:txBody>
      </p:sp>
      <p:sp>
        <p:nvSpPr>
          <p:cNvPr id="242" name="Rectangle 241"/>
          <p:cNvSpPr/>
          <p:nvPr/>
        </p:nvSpPr>
        <p:spPr>
          <a:xfrm>
            <a:off x="457200" y="2438400"/>
            <a:ext cx="12192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 dirty="0" err="1"/>
              <a:t>Tehnician</a:t>
            </a:r>
            <a:endParaRPr lang="en-US" sz="1000" b="1" dirty="0"/>
          </a:p>
        </p:txBody>
      </p:sp>
      <p:sp>
        <p:nvSpPr>
          <p:cNvPr id="279" name="Rectangle 278"/>
          <p:cNvSpPr/>
          <p:nvPr/>
        </p:nvSpPr>
        <p:spPr>
          <a:xfrm>
            <a:off x="7162799" y="744972"/>
            <a:ext cx="1066799" cy="3628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Secretar</a:t>
            </a:r>
            <a:endParaRPr lang="en-US" sz="1000" b="1" dirty="0"/>
          </a:p>
        </p:txBody>
      </p:sp>
      <p:sp>
        <p:nvSpPr>
          <p:cNvPr id="858" name="TextBox 857"/>
          <p:cNvSpPr txBox="1"/>
          <p:nvPr/>
        </p:nvSpPr>
        <p:spPr>
          <a:xfrm>
            <a:off x="2209800" y="152400"/>
            <a:ext cx="4628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/>
              <a:t>ORGANIGRAMA CPPV și PD, mun. Chișinău,</a:t>
            </a:r>
            <a:r>
              <a:rPr lang="en-US" sz="1400" dirty="0"/>
              <a:t> </a:t>
            </a:r>
            <a:r>
              <a:rPr lang="ro-RO" sz="1400" dirty="0"/>
              <a:t>pentru anul 20</a:t>
            </a:r>
            <a:r>
              <a:rPr lang="en-US" sz="1400" dirty="0"/>
              <a:t>2</a:t>
            </a:r>
            <a:r>
              <a:rPr lang="ro-RO" sz="1400" dirty="0"/>
              <a:t>4</a:t>
            </a:r>
            <a:endParaRPr lang="en-US" sz="1400" dirty="0"/>
          </a:p>
        </p:txBody>
      </p:sp>
      <p:sp>
        <p:nvSpPr>
          <p:cNvPr id="859" name="TextBox 858"/>
          <p:cNvSpPr txBox="1"/>
          <p:nvPr/>
        </p:nvSpPr>
        <p:spPr>
          <a:xfrm>
            <a:off x="7048500" y="65848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1200" dirty="0"/>
              <a:t>APROB </a:t>
            </a:r>
            <a:r>
              <a:rPr lang="en-US" sz="1200" dirty="0"/>
              <a:t>_____</a:t>
            </a:r>
            <a:r>
              <a:rPr lang="ro-RO" sz="1200" dirty="0"/>
              <a:t>__</a:t>
            </a:r>
            <a:r>
              <a:rPr lang="en-US" sz="1200" dirty="0"/>
              <a:t>_____</a:t>
            </a:r>
            <a:r>
              <a:rPr lang="ro-RO" sz="1200" dirty="0"/>
              <a:t>_____</a:t>
            </a:r>
          </a:p>
          <a:p>
            <a:pPr algn="r"/>
            <a:r>
              <a:rPr lang="ro-RO" sz="1200" dirty="0"/>
              <a:t>din __</a:t>
            </a:r>
            <a:r>
              <a:rPr lang="en-US" sz="1200" dirty="0"/>
              <a:t>_____________202</a:t>
            </a:r>
            <a:r>
              <a:rPr lang="ro-RO" sz="1200" dirty="0"/>
              <a:t>5</a:t>
            </a:r>
            <a:endParaRPr lang="en-US" sz="1200" dirty="0"/>
          </a:p>
        </p:txBody>
      </p:sp>
      <p:sp>
        <p:nvSpPr>
          <p:cNvPr id="270" name="TextBox 269"/>
          <p:cNvSpPr txBox="1"/>
          <p:nvPr/>
        </p:nvSpPr>
        <p:spPr>
          <a:xfrm>
            <a:off x="762000" y="4191000"/>
            <a:ext cx="374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78" name="Прямоугольник 277"/>
          <p:cNvSpPr/>
          <p:nvPr/>
        </p:nvSpPr>
        <p:spPr>
          <a:xfrm>
            <a:off x="8382000" y="1676400"/>
            <a:ext cx="1295400" cy="381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 </a:t>
            </a:r>
            <a:r>
              <a:rPr lang="en-US" sz="1200" b="1" dirty="0" err="1"/>
              <a:t>Șef</a:t>
            </a:r>
            <a:r>
              <a:rPr lang="en-US" sz="1200" b="1" dirty="0"/>
              <a:t> </a:t>
            </a:r>
            <a:r>
              <a:rPr lang="en-US" sz="1200" b="1" dirty="0" err="1"/>
              <a:t>Serviciu</a:t>
            </a:r>
            <a:r>
              <a:rPr lang="en-US" sz="1200" b="1" dirty="0"/>
              <a:t> social</a:t>
            </a:r>
            <a:endParaRPr lang="ru-RU" sz="1200" b="1" dirty="0"/>
          </a:p>
        </p:txBody>
      </p:sp>
      <p:sp>
        <p:nvSpPr>
          <p:cNvPr id="547" name="Прямоугольник 546"/>
          <p:cNvSpPr/>
          <p:nvPr/>
        </p:nvSpPr>
        <p:spPr>
          <a:xfrm>
            <a:off x="3657600" y="6019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 </a:t>
            </a:r>
            <a:r>
              <a:rPr lang="en-US" sz="1000" b="1" dirty="0" err="1"/>
              <a:t>Asistent</a:t>
            </a:r>
            <a:r>
              <a:rPr lang="en-US" sz="1000" b="1" dirty="0"/>
              <a:t> medical </a:t>
            </a:r>
            <a:r>
              <a:rPr lang="en-US" sz="1000" b="1" dirty="0" err="1"/>
              <a:t>stomatologie</a:t>
            </a:r>
            <a:endParaRPr lang="en-US" sz="1000" b="1" dirty="0"/>
          </a:p>
        </p:txBody>
      </p:sp>
      <p:sp>
        <p:nvSpPr>
          <p:cNvPr id="70" name="Dreptunghi 69"/>
          <p:cNvSpPr/>
          <p:nvPr/>
        </p:nvSpPr>
        <p:spPr>
          <a:xfrm>
            <a:off x="5181600" y="1676400"/>
            <a:ext cx="1010790" cy="4185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050" dirty="0"/>
              <a:t>Contabil</a:t>
            </a:r>
            <a:r>
              <a:rPr lang="ro-RO" dirty="0"/>
              <a:t> </a:t>
            </a:r>
            <a:r>
              <a:rPr lang="ro-RO" sz="1050" dirty="0"/>
              <a:t>șef</a:t>
            </a:r>
            <a:endParaRPr lang="ro-RO" dirty="0"/>
          </a:p>
        </p:txBody>
      </p:sp>
      <p:sp>
        <p:nvSpPr>
          <p:cNvPr id="71" name="Dreptunghi 70"/>
          <p:cNvSpPr/>
          <p:nvPr/>
        </p:nvSpPr>
        <p:spPr>
          <a:xfrm>
            <a:off x="5181600" y="2362200"/>
            <a:ext cx="1066800" cy="3104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E</a:t>
            </a:r>
            <a:r>
              <a:rPr lang="ro-RO" sz="1050" dirty="0" err="1"/>
              <a:t>conomist</a:t>
            </a:r>
            <a:r>
              <a:rPr lang="en-US" sz="1050" dirty="0"/>
              <a:t> principal</a:t>
            </a:r>
            <a:endParaRPr lang="ro-RO" sz="1050" dirty="0"/>
          </a:p>
        </p:txBody>
      </p:sp>
      <p:sp>
        <p:nvSpPr>
          <p:cNvPr id="72" name="Dreptunghi 71"/>
          <p:cNvSpPr/>
          <p:nvPr/>
        </p:nvSpPr>
        <p:spPr>
          <a:xfrm>
            <a:off x="5181600" y="2895600"/>
            <a:ext cx="1066800" cy="345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Contabil</a:t>
            </a:r>
            <a:r>
              <a:rPr lang="en-US" sz="1050" dirty="0"/>
              <a:t> principal</a:t>
            </a:r>
            <a:endParaRPr lang="ro-RO" sz="1050" dirty="0"/>
          </a:p>
        </p:txBody>
      </p:sp>
      <p:sp>
        <p:nvSpPr>
          <p:cNvPr id="73" name="Dreptunghi 72"/>
          <p:cNvSpPr/>
          <p:nvPr/>
        </p:nvSpPr>
        <p:spPr>
          <a:xfrm>
            <a:off x="5105400" y="3581400"/>
            <a:ext cx="1143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 Specialist principal (</a:t>
            </a:r>
            <a:r>
              <a:rPr lang="en-US" sz="1050" dirty="0" err="1"/>
              <a:t>achizi’ii</a:t>
            </a:r>
            <a:r>
              <a:rPr lang="en-US" sz="1050" dirty="0"/>
              <a:t> </a:t>
            </a:r>
            <a:r>
              <a:rPr lang="en-US" sz="1050" dirty="0" err="1"/>
              <a:t>publice</a:t>
            </a:r>
            <a:r>
              <a:rPr lang="en-US" sz="1050" dirty="0"/>
              <a:t>)</a:t>
            </a:r>
            <a:endParaRPr lang="ro-RO" sz="1050" dirty="0"/>
          </a:p>
        </p:txBody>
      </p:sp>
      <p:sp>
        <p:nvSpPr>
          <p:cNvPr id="74" name="Dreptunghi 73"/>
          <p:cNvSpPr/>
          <p:nvPr/>
        </p:nvSpPr>
        <p:spPr>
          <a:xfrm>
            <a:off x="5105400" y="4191000"/>
            <a:ext cx="1164641" cy="3548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Contabil</a:t>
            </a:r>
            <a:r>
              <a:rPr lang="en-US" sz="1050" dirty="0"/>
              <a:t> </a:t>
            </a:r>
            <a:endParaRPr lang="ro-RO" sz="1050" dirty="0"/>
          </a:p>
        </p:txBody>
      </p:sp>
      <p:sp>
        <p:nvSpPr>
          <p:cNvPr id="66" name="Rectangle 241"/>
          <p:cNvSpPr/>
          <p:nvPr/>
        </p:nvSpPr>
        <p:spPr>
          <a:xfrm>
            <a:off x="457200" y="3048000"/>
            <a:ext cx="12192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 dirty="0"/>
              <a:t>L</a:t>
            </a:r>
            <a:r>
              <a:rPr lang="ro-RO" sz="1000" b="1" dirty="0" err="1"/>
              <a:t>ăcătuș</a:t>
            </a:r>
            <a:r>
              <a:rPr lang="ro-RO" sz="1000" b="1" dirty="0"/>
              <a:t> </a:t>
            </a:r>
            <a:r>
              <a:rPr lang="en-US" sz="1000" b="1" dirty="0"/>
              <a:t> </a:t>
            </a:r>
            <a:r>
              <a:rPr lang="ro-RO" sz="1000" b="1" dirty="0"/>
              <a:t>instalator;</a:t>
            </a:r>
            <a:endParaRPr lang="en-US" sz="1000" b="1" dirty="0"/>
          </a:p>
        </p:txBody>
      </p:sp>
      <p:cxnSp>
        <p:nvCxnSpPr>
          <p:cNvPr id="77" name="Прямая со стрелкой 76"/>
          <p:cNvCxnSpPr>
            <a:stCxn id="4" idx="2"/>
          </p:cNvCxnSpPr>
          <p:nvPr/>
        </p:nvCxnSpPr>
        <p:spPr>
          <a:xfrm>
            <a:off x="4953000" y="999204"/>
            <a:ext cx="886395" cy="6771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79"/>
          <p:cNvCxnSpPr>
            <a:stCxn id="4" idx="2"/>
            <a:endCxn id="6" idx="0"/>
          </p:cNvCxnSpPr>
          <p:nvPr/>
        </p:nvCxnSpPr>
        <p:spPr>
          <a:xfrm flipH="1">
            <a:off x="4191000" y="999204"/>
            <a:ext cx="762000" cy="6009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>
            <a:stCxn id="4" idx="2"/>
            <a:endCxn id="23" idx="0"/>
          </p:cNvCxnSpPr>
          <p:nvPr/>
        </p:nvCxnSpPr>
        <p:spPr>
          <a:xfrm flipH="1">
            <a:off x="2620056" y="999204"/>
            <a:ext cx="2332944" cy="6009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Прямая со стрелкой 88"/>
          <p:cNvCxnSpPr>
            <a:stCxn id="4" idx="2"/>
            <a:endCxn id="11" idx="0"/>
          </p:cNvCxnSpPr>
          <p:nvPr/>
        </p:nvCxnSpPr>
        <p:spPr>
          <a:xfrm>
            <a:off x="4953000" y="999204"/>
            <a:ext cx="2438400" cy="6771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/>
          <p:cNvCxnSpPr>
            <a:stCxn id="4" idx="2"/>
            <a:endCxn id="278" idx="0"/>
          </p:cNvCxnSpPr>
          <p:nvPr/>
        </p:nvCxnSpPr>
        <p:spPr>
          <a:xfrm>
            <a:off x="4953000" y="999204"/>
            <a:ext cx="4076700" cy="6771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 стрелкой 98"/>
          <p:cNvCxnSpPr>
            <a:stCxn id="4" idx="3"/>
          </p:cNvCxnSpPr>
          <p:nvPr/>
        </p:nvCxnSpPr>
        <p:spPr>
          <a:xfrm>
            <a:off x="6096000" y="804402"/>
            <a:ext cx="1066800" cy="337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/>
          <p:cNvCxnSpPr>
            <a:stCxn id="4" idx="2"/>
          </p:cNvCxnSpPr>
          <p:nvPr/>
        </p:nvCxnSpPr>
        <p:spPr>
          <a:xfrm flipH="1">
            <a:off x="914400" y="999204"/>
            <a:ext cx="4038600" cy="6009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Соединительная линия уступом 106"/>
          <p:cNvCxnSpPr>
            <a:cxnSpLocks/>
          </p:cNvCxnSpPr>
          <p:nvPr/>
        </p:nvCxnSpPr>
        <p:spPr>
          <a:xfrm rot="16200000" flipH="1">
            <a:off x="3713324" y="2230275"/>
            <a:ext cx="4057910" cy="1578559"/>
          </a:xfrm>
          <a:prstGeom prst="bentConnector3">
            <a:avLst>
              <a:gd name="adj1" fmla="val 4415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Соединительная линия уступом 113"/>
          <p:cNvCxnSpPr/>
          <p:nvPr/>
        </p:nvCxnSpPr>
        <p:spPr>
          <a:xfrm>
            <a:off x="6172200" y="2514600"/>
            <a:ext cx="208410" cy="253391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 стрелкой 117"/>
          <p:cNvCxnSpPr>
            <a:stCxn id="6" idx="2"/>
          </p:cNvCxnSpPr>
          <p:nvPr/>
        </p:nvCxnSpPr>
        <p:spPr>
          <a:xfrm flipH="1">
            <a:off x="2514600" y="2123861"/>
            <a:ext cx="1676400" cy="3145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Соединительная линия уступом 120"/>
          <p:cNvCxnSpPr>
            <a:stCxn id="6" idx="2"/>
          </p:cNvCxnSpPr>
          <p:nvPr/>
        </p:nvCxnSpPr>
        <p:spPr>
          <a:xfrm rot="16200000" flipH="1">
            <a:off x="2852630" y="3462230"/>
            <a:ext cx="3438741" cy="762001"/>
          </a:xfrm>
          <a:prstGeom prst="bentConnector3">
            <a:avLst>
              <a:gd name="adj1" fmla="val 318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Соединительная линия уступом 124"/>
          <p:cNvCxnSpPr>
            <a:stCxn id="8" idx="3"/>
          </p:cNvCxnSpPr>
          <p:nvPr/>
        </p:nvCxnSpPr>
        <p:spPr>
          <a:xfrm>
            <a:off x="3357763" y="2597344"/>
            <a:ext cx="147437" cy="205085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Соединительная линия уступом 128"/>
          <p:cNvCxnSpPr>
            <a:stCxn id="23" idx="1"/>
          </p:cNvCxnSpPr>
          <p:nvPr/>
        </p:nvCxnSpPr>
        <p:spPr>
          <a:xfrm rot="10800000" flipV="1">
            <a:off x="1828800" y="1871202"/>
            <a:ext cx="105456" cy="407239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Соединительная линия уступом 134"/>
          <p:cNvCxnSpPr>
            <a:stCxn id="7" idx="1"/>
          </p:cNvCxnSpPr>
          <p:nvPr/>
        </p:nvCxnSpPr>
        <p:spPr>
          <a:xfrm rot="10800000" flipV="1">
            <a:off x="228600" y="1923306"/>
            <a:ext cx="152400" cy="379169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Соединительная линия уступом 138"/>
          <p:cNvCxnSpPr/>
          <p:nvPr/>
        </p:nvCxnSpPr>
        <p:spPr>
          <a:xfrm rot="16200000" flipH="1">
            <a:off x="8724900" y="2781300"/>
            <a:ext cx="1981200" cy="76200"/>
          </a:xfrm>
          <a:prstGeom prst="bentConnector3">
            <a:avLst>
              <a:gd name="adj1" fmla="val 192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Соединительная линия уступом 146"/>
          <p:cNvCxnSpPr>
            <a:stCxn id="11" idx="3"/>
          </p:cNvCxnSpPr>
          <p:nvPr/>
        </p:nvCxnSpPr>
        <p:spPr>
          <a:xfrm>
            <a:off x="8001000" y="1900698"/>
            <a:ext cx="228600" cy="427150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Прямая со стрелкой 153"/>
          <p:cNvCxnSpPr>
            <a:endCxn id="136" idx="3"/>
          </p:cNvCxnSpPr>
          <p:nvPr/>
        </p:nvCxnSpPr>
        <p:spPr>
          <a:xfrm flipH="1">
            <a:off x="9601200" y="2514600"/>
            <a:ext cx="1524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Прямая со стрелкой 156"/>
          <p:cNvCxnSpPr>
            <a:stCxn id="209" idx="3"/>
            <a:endCxn id="209" idx="3"/>
          </p:cNvCxnSpPr>
          <p:nvPr/>
        </p:nvCxnSpPr>
        <p:spPr>
          <a:xfrm>
            <a:off x="9601200" y="316230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Прямая со стрелкой 159"/>
          <p:cNvCxnSpPr>
            <a:endCxn id="164" idx="1"/>
          </p:cNvCxnSpPr>
          <p:nvPr/>
        </p:nvCxnSpPr>
        <p:spPr>
          <a:xfrm flipV="1">
            <a:off x="8229600" y="4914900"/>
            <a:ext cx="3048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Прямая со стрелкой 171"/>
          <p:cNvCxnSpPr>
            <a:endCxn id="166" idx="1"/>
          </p:cNvCxnSpPr>
          <p:nvPr/>
        </p:nvCxnSpPr>
        <p:spPr>
          <a:xfrm>
            <a:off x="8229600" y="556260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Прямая со стрелкой 174"/>
          <p:cNvCxnSpPr/>
          <p:nvPr/>
        </p:nvCxnSpPr>
        <p:spPr>
          <a:xfrm flipV="1">
            <a:off x="8229600" y="6134100"/>
            <a:ext cx="3048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Прямая со стрелкой 180"/>
          <p:cNvCxnSpPr>
            <a:cxnSpLocks/>
            <a:endCxn id="207" idx="1"/>
          </p:cNvCxnSpPr>
          <p:nvPr/>
        </p:nvCxnSpPr>
        <p:spPr>
          <a:xfrm>
            <a:off x="6048220" y="959032"/>
            <a:ext cx="733580" cy="16060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Прямая со стрелкой 187"/>
          <p:cNvCxnSpPr>
            <a:endCxn id="208" idx="1"/>
          </p:cNvCxnSpPr>
          <p:nvPr/>
        </p:nvCxnSpPr>
        <p:spPr>
          <a:xfrm>
            <a:off x="6526823" y="3150123"/>
            <a:ext cx="228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Прямая со стрелкой 190"/>
          <p:cNvCxnSpPr>
            <a:endCxn id="210" idx="1"/>
          </p:cNvCxnSpPr>
          <p:nvPr/>
        </p:nvCxnSpPr>
        <p:spPr>
          <a:xfrm>
            <a:off x="6553200" y="3810000"/>
            <a:ext cx="2286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Прямая со стрелкой 194"/>
          <p:cNvCxnSpPr>
            <a:endCxn id="211" idx="1"/>
          </p:cNvCxnSpPr>
          <p:nvPr/>
        </p:nvCxnSpPr>
        <p:spPr>
          <a:xfrm>
            <a:off x="6553200" y="4495800"/>
            <a:ext cx="228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Прямая со стрелкой 199"/>
          <p:cNvCxnSpPr/>
          <p:nvPr/>
        </p:nvCxnSpPr>
        <p:spPr>
          <a:xfrm flipH="1">
            <a:off x="9601200" y="3733800"/>
            <a:ext cx="152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Прямая со стрелкой 204"/>
          <p:cNvCxnSpPr>
            <a:endCxn id="71" idx="3"/>
          </p:cNvCxnSpPr>
          <p:nvPr/>
        </p:nvCxnSpPr>
        <p:spPr>
          <a:xfrm flipH="1">
            <a:off x="6248400" y="2514600"/>
            <a:ext cx="152400" cy="28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Прямая со стрелкой 213"/>
          <p:cNvCxnSpPr>
            <a:endCxn id="72" idx="3"/>
          </p:cNvCxnSpPr>
          <p:nvPr/>
        </p:nvCxnSpPr>
        <p:spPr>
          <a:xfrm flipH="1">
            <a:off x="6248400" y="3048000"/>
            <a:ext cx="152400" cy="20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Прямая со стрелкой 220"/>
          <p:cNvCxnSpPr>
            <a:endCxn id="73" idx="3"/>
          </p:cNvCxnSpPr>
          <p:nvPr/>
        </p:nvCxnSpPr>
        <p:spPr>
          <a:xfrm flipH="1">
            <a:off x="6248400" y="3810000"/>
            <a:ext cx="152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Прямая со стрелкой 223"/>
          <p:cNvCxnSpPr>
            <a:endCxn id="108" idx="3"/>
          </p:cNvCxnSpPr>
          <p:nvPr/>
        </p:nvCxnSpPr>
        <p:spPr>
          <a:xfrm flipH="1" flipV="1">
            <a:off x="6270041" y="4978036"/>
            <a:ext cx="130759" cy="511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Прямая со стрелкой 227"/>
          <p:cNvCxnSpPr>
            <a:cxnSpLocks/>
            <a:stCxn id="10" idx="3"/>
            <a:endCxn id="10" idx="3"/>
          </p:cNvCxnSpPr>
          <p:nvPr/>
        </p:nvCxnSpPr>
        <p:spPr>
          <a:xfrm>
            <a:off x="8001000" y="5050272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Прямая со стрелкой 243"/>
          <p:cNvCxnSpPr>
            <a:cxnSpLocks/>
          </p:cNvCxnSpPr>
          <p:nvPr/>
        </p:nvCxnSpPr>
        <p:spPr>
          <a:xfrm>
            <a:off x="6801142" y="5536113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Прямая со стрелкой 249"/>
          <p:cNvCxnSpPr>
            <a:endCxn id="32" idx="3"/>
          </p:cNvCxnSpPr>
          <p:nvPr/>
        </p:nvCxnSpPr>
        <p:spPr>
          <a:xfrm flipH="1" flipV="1">
            <a:off x="4724400" y="2639961"/>
            <a:ext cx="228600" cy="270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Прямая со стрелкой 253"/>
          <p:cNvCxnSpPr>
            <a:endCxn id="41" idx="3"/>
          </p:cNvCxnSpPr>
          <p:nvPr/>
        </p:nvCxnSpPr>
        <p:spPr>
          <a:xfrm flipH="1">
            <a:off x="4724400" y="3200400"/>
            <a:ext cx="228600" cy="251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Прямая со стрелкой 256"/>
          <p:cNvCxnSpPr>
            <a:endCxn id="144" idx="3"/>
          </p:cNvCxnSpPr>
          <p:nvPr/>
        </p:nvCxnSpPr>
        <p:spPr>
          <a:xfrm flipH="1">
            <a:off x="4724400" y="3657600"/>
            <a:ext cx="228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Прямая со стрелкой 259"/>
          <p:cNvCxnSpPr>
            <a:endCxn id="42" idx="3"/>
          </p:cNvCxnSpPr>
          <p:nvPr/>
        </p:nvCxnSpPr>
        <p:spPr>
          <a:xfrm flipH="1">
            <a:off x="4724400" y="4038600"/>
            <a:ext cx="228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262"/>
          <p:cNvCxnSpPr>
            <a:endCxn id="38" idx="3"/>
          </p:cNvCxnSpPr>
          <p:nvPr/>
        </p:nvCxnSpPr>
        <p:spPr>
          <a:xfrm flipH="1">
            <a:off x="4724400" y="4495800"/>
            <a:ext cx="228600" cy="333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265"/>
          <p:cNvCxnSpPr>
            <a:endCxn id="39" idx="3"/>
          </p:cNvCxnSpPr>
          <p:nvPr/>
        </p:nvCxnSpPr>
        <p:spPr>
          <a:xfrm flipH="1">
            <a:off x="4724400" y="5105400"/>
            <a:ext cx="228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Соединительная линия уступом 270"/>
          <p:cNvCxnSpPr>
            <a:stCxn id="39" idx="1"/>
          </p:cNvCxnSpPr>
          <p:nvPr/>
        </p:nvCxnSpPr>
        <p:spPr>
          <a:xfrm rot="10800000" flipV="1">
            <a:off x="3505200" y="5105400"/>
            <a:ext cx="152400" cy="114300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Прямая со стрелкой 274"/>
          <p:cNvCxnSpPr>
            <a:endCxn id="43" idx="1"/>
          </p:cNvCxnSpPr>
          <p:nvPr/>
        </p:nvCxnSpPr>
        <p:spPr>
          <a:xfrm>
            <a:off x="3505200" y="5638800"/>
            <a:ext cx="1524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Прямая со стрелкой 279"/>
          <p:cNvCxnSpPr>
            <a:endCxn id="547" idx="1"/>
          </p:cNvCxnSpPr>
          <p:nvPr/>
        </p:nvCxnSpPr>
        <p:spPr>
          <a:xfrm flipV="1">
            <a:off x="3505200" y="6210300"/>
            <a:ext cx="1524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Прямая со стрелкой 287"/>
          <p:cNvCxnSpPr>
            <a:endCxn id="81" idx="3"/>
          </p:cNvCxnSpPr>
          <p:nvPr/>
        </p:nvCxnSpPr>
        <p:spPr>
          <a:xfrm flipH="1">
            <a:off x="3352800" y="3124200"/>
            <a:ext cx="152400" cy="86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Прямая со стрелкой 290"/>
          <p:cNvCxnSpPr>
            <a:endCxn id="149" idx="3"/>
          </p:cNvCxnSpPr>
          <p:nvPr/>
        </p:nvCxnSpPr>
        <p:spPr>
          <a:xfrm flipH="1" flipV="1">
            <a:off x="3352800" y="3606903"/>
            <a:ext cx="152400" cy="506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Прямая со стрелкой 294"/>
          <p:cNvCxnSpPr>
            <a:endCxn id="150" idx="3"/>
          </p:cNvCxnSpPr>
          <p:nvPr/>
        </p:nvCxnSpPr>
        <p:spPr>
          <a:xfrm flipH="1">
            <a:off x="3369569" y="4114800"/>
            <a:ext cx="135631" cy="111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Прямая со стрелкой 297"/>
          <p:cNvCxnSpPr>
            <a:endCxn id="151" idx="3"/>
          </p:cNvCxnSpPr>
          <p:nvPr/>
        </p:nvCxnSpPr>
        <p:spPr>
          <a:xfrm flipH="1" flipV="1">
            <a:off x="3352800" y="4639961"/>
            <a:ext cx="152400" cy="82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Прямая со стрелкой 300"/>
          <p:cNvCxnSpPr>
            <a:endCxn id="82" idx="1"/>
          </p:cNvCxnSpPr>
          <p:nvPr/>
        </p:nvCxnSpPr>
        <p:spPr>
          <a:xfrm flipV="1">
            <a:off x="1833929" y="5307513"/>
            <a:ext cx="223471" cy="264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Прямая со стрелкой 305"/>
          <p:cNvCxnSpPr>
            <a:endCxn id="238" idx="1"/>
          </p:cNvCxnSpPr>
          <p:nvPr/>
        </p:nvCxnSpPr>
        <p:spPr>
          <a:xfrm>
            <a:off x="1833929" y="5867400"/>
            <a:ext cx="22347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Прямая со стрелкой 316"/>
          <p:cNvCxnSpPr>
            <a:endCxn id="237" idx="1"/>
          </p:cNvCxnSpPr>
          <p:nvPr/>
        </p:nvCxnSpPr>
        <p:spPr>
          <a:xfrm flipV="1">
            <a:off x="228600" y="5695950"/>
            <a:ext cx="228600" cy="190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Прямая со стрелкой 320"/>
          <p:cNvCxnSpPr>
            <a:endCxn id="241" idx="1"/>
          </p:cNvCxnSpPr>
          <p:nvPr/>
        </p:nvCxnSpPr>
        <p:spPr>
          <a:xfrm>
            <a:off x="228600" y="4953000"/>
            <a:ext cx="228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Прямая со стрелкой 323"/>
          <p:cNvCxnSpPr/>
          <p:nvPr/>
        </p:nvCxnSpPr>
        <p:spPr>
          <a:xfrm>
            <a:off x="228600" y="502920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Прямая со стрелкой 326"/>
          <p:cNvCxnSpPr>
            <a:endCxn id="235" idx="1"/>
          </p:cNvCxnSpPr>
          <p:nvPr/>
        </p:nvCxnSpPr>
        <p:spPr>
          <a:xfrm>
            <a:off x="228600" y="4419600"/>
            <a:ext cx="228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Прямая со стрелкой 331"/>
          <p:cNvCxnSpPr>
            <a:endCxn id="234" idx="1"/>
          </p:cNvCxnSpPr>
          <p:nvPr/>
        </p:nvCxnSpPr>
        <p:spPr>
          <a:xfrm>
            <a:off x="304800" y="3810000"/>
            <a:ext cx="152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Прямая со стрелкой 335"/>
          <p:cNvCxnSpPr>
            <a:endCxn id="66" idx="1"/>
          </p:cNvCxnSpPr>
          <p:nvPr/>
        </p:nvCxnSpPr>
        <p:spPr>
          <a:xfrm>
            <a:off x="228600" y="3276600"/>
            <a:ext cx="228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Прямая со стрелкой 339"/>
          <p:cNvCxnSpPr>
            <a:endCxn id="242" idx="1"/>
          </p:cNvCxnSpPr>
          <p:nvPr/>
        </p:nvCxnSpPr>
        <p:spPr>
          <a:xfrm>
            <a:off x="228600" y="2667000"/>
            <a:ext cx="228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Прямая со стрелкой 364"/>
          <p:cNvCxnSpPr>
            <a:endCxn id="209" idx="3"/>
          </p:cNvCxnSpPr>
          <p:nvPr/>
        </p:nvCxnSpPr>
        <p:spPr>
          <a:xfrm flipH="1">
            <a:off x="9601200" y="3124200"/>
            <a:ext cx="1524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/>
          <p:cNvCxnSpPr>
            <a:cxnSpLocks/>
            <a:endCxn id="10" idx="1"/>
          </p:cNvCxnSpPr>
          <p:nvPr/>
        </p:nvCxnSpPr>
        <p:spPr>
          <a:xfrm>
            <a:off x="6526823" y="5029200"/>
            <a:ext cx="254977" cy="21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Dreptunghi 73"/>
          <p:cNvSpPr/>
          <p:nvPr/>
        </p:nvSpPr>
        <p:spPr>
          <a:xfrm>
            <a:off x="5105400" y="4800600"/>
            <a:ext cx="1164641" cy="3548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Contabil</a:t>
            </a:r>
            <a:r>
              <a:rPr lang="en-US" sz="1050" dirty="0"/>
              <a:t> </a:t>
            </a:r>
            <a:endParaRPr lang="ro-RO" sz="1050" dirty="0"/>
          </a:p>
        </p:txBody>
      </p:sp>
      <p:cxnSp>
        <p:nvCxnSpPr>
          <p:cNvPr id="111" name="Прямая со стрелкой 110"/>
          <p:cNvCxnSpPr/>
          <p:nvPr/>
        </p:nvCxnSpPr>
        <p:spPr>
          <a:xfrm flipH="1">
            <a:off x="6248400" y="4419600"/>
            <a:ext cx="152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 стрелкой 115"/>
          <p:cNvCxnSpPr>
            <a:stCxn id="108" idx="3"/>
          </p:cNvCxnSpPr>
          <p:nvPr/>
        </p:nvCxnSpPr>
        <p:spPr>
          <a:xfrm flipH="1" flipV="1">
            <a:off x="6248400" y="4953000"/>
            <a:ext cx="21641" cy="250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Dreptunghi 73"/>
          <p:cNvSpPr/>
          <p:nvPr/>
        </p:nvSpPr>
        <p:spPr>
          <a:xfrm>
            <a:off x="5105400" y="5334000"/>
            <a:ext cx="1164641" cy="3548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Kinetoterapeut</a:t>
            </a:r>
            <a:endParaRPr lang="ro-RO" sz="1050" dirty="0"/>
          </a:p>
        </p:txBody>
      </p:sp>
      <p:cxnSp>
        <p:nvCxnSpPr>
          <p:cNvPr id="133" name="Прямая со стрелкой 132"/>
          <p:cNvCxnSpPr>
            <a:endCxn id="130" idx="1"/>
          </p:cNvCxnSpPr>
          <p:nvPr/>
        </p:nvCxnSpPr>
        <p:spPr>
          <a:xfrm flipV="1">
            <a:off x="4953000" y="5511436"/>
            <a:ext cx="152400" cy="511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Соединительная линия уступом 166"/>
          <p:cNvCxnSpPr>
            <a:stCxn id="70" idx="3"/>
          </p:cNvCxnSpPr>
          <p:nvPr/>
        </p:nvCxnSpPr>
        <p:spPr>
          <a:xfrm>
            <a:off x="6192390" y="1885690"/>
            <a:ext cx="208410" cy="62891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D8FE529-876F-44DF-82CA-F7428FDE04D2}"/>
              </a:ext>
            </a:extLst>
          </p:cNvPr>
          <p:cNvSpPr/>
          <p:nvPr/>
        </p:nvSpPr>
        <p:spPr>
          <a:xfrm>
            <a:off x="6837810" y="2362200"/>
            <a:ext cx="1219200" cy="381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 sz="1000" b="1" dirty="0"/>
              <a:t>Specialist Principal (resurse umane) </a:t>
            </a:r>
            <a:endParaRPr lang="en-US" sz="1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0DAEBA-ECDB-4B9A-B55A-A13CAE28C428}"/>
              </a:ext>
            </a:extLst>
          </p:cNvPr>
          <p:cNvSpPr/>
          <p:nvPr/>
        </p:nvSpPr>
        <p:spPr>
          <a:xfrm rot="10800000" flipV="1">
            <a:off x="1529862" y="665032"/>
            <a:ext cx="1295400" cy="35143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000" b="1" dirty="0"/>
              <a:t>Jurist</a:t>
            </a:r>
            <a:endParaRPr lang="ru-RU" sz="1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121024-EEFB-4BD4-8C0D-7DEA79F74643}"/>
              </a:ext>
            </a:extLst>
          </p:cNvPr>
          <p:cNvCxnSpPr>
            <a:cxnSpLocks/>
            <a:stCxn id="4" idx="1"/>
            <a:endCxn id="3" idx="1"/>
          </p:cNvCxnSpPr>
          <p:nvPr/>
        </p:nvCxnSpPr>
        <p:spPr>
          <a:xfrm flipH="1">
            <a:off x="2825262" y="804402"/>
            <a:ext cx="984738" cy="36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388A8FD-D04E-4289-A707-6747B4567669}"/>
              </a:ext>
            </a:extLst>
          </p:cNvPr>
          <p:cNvCxnSpPr>
            <a:cxnSpLocks/>
            <a:stCxn id="4" idx="1"/>
            <a:endCxn id="3" idx="1"/>
          </p:cNvCxnSpPr>
          <p:nvPr/>
        </p:nvCxnSpPr>
        <p:spPr>
          <a:xfrm flipH="1">
            <a:off x="2825262" y="804402"/>
            <a:ext cx="984738" cy="36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36200</TotalTime>
  <Words>194</Words>
  <Application>Microsoft Office PowerPoint</Application>
  <PresentationFormat>A4 Paper (210x297 mm)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Victor</dc:creator>
  <cp:lastModifiedBy>Администратор</cp:lastModifiedBy>
  <cp:revision>3145</cp:revision>
  <cp:lastPrinted>2024-02-05T07:04:27Z</cp:lastPrinted>
  <dcterms:created xsi:type="dcterms:W3CDTF">2019-01-22T18:33:58Z</dcterms:created>
  <dcterms:modified xsi:type="dcterms:W3CDTF">2025-02-11T19:10:50Z</dcterms:modified>
</cp:coreProperties>
</file>